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8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-2011680"/>
            <a:ext cx="8961120" cy="8961120"/>
          </a:xfrm>
          <a:prstGeom prst="ellipse">
            <a:avLst/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6675120" y="13716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6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PROJECTUM XPM · AI OFFERING · JUNE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AI in
Projectum xPM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PoC proposals, timebox options and a roadmap for extension. Built on the Dataverse MCP server and the new Copilot Studio experience.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Better connected in The Digital Neighbourhood.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WHY NOW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Three things have changed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642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data is ready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xPM runs entirely on Dataverse: 77 structured tables covering strategy, ideas, schedules, resources, risks and money. AI can read it today, without a data warehouse project first.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access is solved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2487168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Dataverse now ships as an MCP server. That gives an approved AI assistant a standard way to search, query and update xPM data, within the user's own permissions.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3258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1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664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building is fast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2487168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new Copilot Studio builds agents and AI workflows in days rather than months, with evaluations, governance and model choice built in. PoCs are cheap to run.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0" name="Text 15"/>
          <p:cNvSpPr/>
          <p:nvPr/>
        </p:nvSpPr>
        <p:spPr>
          <a:xfrm>
            <a:off x="777240" y="4069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RESULT:  </a:t>
            </a:r>
            <a:r>
              <a:rPr lang="en-US" sz="1250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PPM questions that used to go on a BI backlog can now be answered in a chat.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BUILDING BLOCKS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The two technologies, in plain terms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713232" y="1508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Dataverse MCP server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21031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MCP (Model Context Protocol) is an open standard. It works like a </a:t>
            </a:r>
            <a:r>
              <a:rPr lang="en-US" sz="10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USB port for AI</a:t>
            </a: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Dataverse exposes one. Any approved assistant (Copilot Studio, Claude, GitHub Copilot) can connect and find, read and update xPM data. It gets the signed-in user's permissions, nothing more.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4965192" y="1508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184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Microsoft Copilot Studio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65192" y="21031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Microsoft's platform for building </a:t>
            </a:r>
            <a:r>
              <a:rPr lang="en-US" sz="10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AI agents</a:t>
            </a: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; chat assistants and autonomous background workers.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new experience adds visual AI workflows, multi-agent setups, a choice of models (including Claude), built-in testing and governance.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HOW THEY FIT:  </a:t>
            </a:r>
            <a:r>
              <a:rPr lang="en-US" sz="1250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Copilot Studio runs the agent. The MCP server gives it access to xPM data.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CAPABILITY MAP · DATAVERSE MCP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What an AI assistant can actually do in xPM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1" y="1376721"/>
            <a:ext cx="209215" cy="2092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01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Find &amp; understand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17520" y="122529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search + describe. The agent discovers xPM tables, columns and relationships on its own; no integration work per table.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1" y="1943649"/>
            <a:ext cx="209215" cy="2092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8470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Ask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017520" y="17922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read_query (SQL SELECT) and search_data. Answers questions across portfolios, initiatives, risks and resource plans in seconds.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61" y="2510577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4140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Act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017520" y="23591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create_record / update_record / delete_record. Log ideas, update status, draft change requests; deletes require explicit user approval.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61" y="3077505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9809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Teach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017520" y="2926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upsert_skill. Store reusable playbooks in Dataverse (for example how portfolio health is rated), so every agent answers the same way.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61" y="3644433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547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Attach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017520" y="34930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File upload and download. Pull a business case document or attach a generated report to a record.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57200" y="422452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Text 18"/>
          <p:cNvSpPr/>
          <p:nvPr/>
        </p:nvSpPr>
        <p:spPr>
          <a:xfrm>
            <a:off x="685800" y="42245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Keep in mind:  </a:t>
            </a:r>
            <a:r>
              <a:rPr lang="en-US" sz="10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Preview feature. Tool names already changed once (Dec 2025). Usage outside Copilot Studio is billed in Copilot credits since 15 Dec 2025.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CAPABILITY MAP · COPILOT STUDIO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What the new experience adds for xPM scenarios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1550822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4447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901952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Redesigned visual automation with AI-native steps, agent hand-offs and per-step testing. Deterministic where it matters.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1298448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3520440" y="1463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222" y="1550822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14447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Prompt &amp; AI nodes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20440" y="1901952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Single AI calls inside a flow; summarise a status report, extract data from a document, translate. No agent needed.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1298448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1"/>
          <p:cNvSpPr/>
          <p:nvPr/>
        </p:nvSpPr>
        <p:spPr>
          <a:xfrm>
            <a:off x="6355080" y="1463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862" y="155082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4447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Multi-agent 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55080" y="1901952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Specialist agents working together via the agent-to-agent protocol; an intake agent, a drafting agent, a watchdog, one orchestrator.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2920" y="3054096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0" name="Shape 15"/>
          <p:cNvSpPr/>
          <p:nvPr/>
        </p:nvSpPr>
        <p:spPr>
          <a:xfrm>
            <a:off x="685800" y="32186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" y="3306470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4712" y="32004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Model choice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5800" y="365760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Pick the model per agent or per prompt; Claude Opus / Sonnet, GPT-5.5 Reasoning and more. Balance quality, speed and cost.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337560" y="3054096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Shape 19"/>
          <p:cNvSpPr/>
          <p:nvPr/>
        </p:nvSpPr>
        <p:spPr>
          <a:xfrm>
            <a:off x="3520440" y="32186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8222" y="3306470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9352" y="32004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Agent evaluations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20440" y="365760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Test sets, activity maps and a REST API for automated testing. Agent quality becomes measurable instead of anecdotal.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72200" y="3054096"/>
            <a:ext cx="2560320" cy="1481328"/>
          </a:xfrm>
          <a:prstGeom prst="roundRect">
            <a:avLst>
              <a:gd name="adj" fmla="val 6173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0" name="Shape 23"/>
          <p:cNvSpPr/>
          <p:nvPr/>
        </p:nvSpPr>
        <p:spPr>
          <a:xfrm>
            <a:off x="6355080" y="32186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2862" y="3306470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32004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Governance built in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355080" y="3657600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Entra agent identities, agent inventory, data-loss-prevention policies. IT keeps visibility and control as agents scale.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WHY PROJECTUM XPM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A data model AI can reason over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Strategic Objective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23060" y="1783080"/>
            <a:ext cx="0" cy="146304"/>
          </a:xfrm>
          <a:prstGeom prst="line">
            <a:avLst/>
          </a:prstGeom>
          <a:noFill/>
          <a:ln w="190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23060" y="2386584"/>
            <a:ext cx="0" cy="146304"/>
          </a:xfrm>
          <a:prstGeom prst="line">
            <a:avLst/>
          </a:prstGeom>
          <a:noFill/>
          <a:ln w="190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23060" y="2990088"/>
            <a:ext cx="0" cy="146304"/>
          </a:xfrm>
          <a:prstGeom prst="line">
            <a:avLst/>
          </a:prstGeom>
          <a:noFill/>
          <a:ln w="190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457200" y="313639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457200" y="3136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Program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23060" y="3593592"/>
            <a:ext cx="0" cy="146304"/>
          </a:xfrm>
          <a:prstGeom prst="line">
            <a:avLst/>
          </a:prstGeom>
          <a:noFill/>
          <a:ln w="190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457200" y="37398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3968496"/>
            <a:ext cx="228600" cy="0"/>
          </a:xfrm>
          <a:prstGeom prst="line">
            <a:avLst/>
          </a:prstGeom>
          <a:noFill/>
          <a:ln w="19050">
            <a:solidFill>
              <a:srgbClr val="5500F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7"/>
          <p:cNvSpPr/>
          <p:nvPr/>
        </p:nvSpPr>
        <p:spPr>
          <a:xfrm>
            <a:off x="3017520" y="373989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500F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3017520" y="37398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Idea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Ideas feed the funnel; every level links to strategy.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43400" y="1298448"/>
            <a:ext cx="384048" cy="38404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72" y="1390620"/>
            <a:ext cx="199705" cy="19970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64608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Structured status KPIs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864608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Cost, schedule, scope, quality and resource ratings stored as data, not buried in slides. Good material for AI summaries and trend analysis.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43400" y="2066544"/>
            <a:ext cx="384048" cy="38404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572" y="2158716"/>
            <a:ext cx="199705" cy="19970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64608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Proposed vs committed resourcing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864608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Resource plans separate what is requested from what is committed. That gap is exactly what an assistant can surface.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343400" y="2834640"/>
            <a:ext cx="384048" cy="38404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572" y="2926812"/>
            <a:ext cx="199705" cy="19970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864608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 real financial sub-model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4864608" y="30723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Cost plans, versions, fiscal periods and actuals in dedicated tables. AI can compare budget to actuals.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343400" y="3602736"/>
            <a:ext cx="384048" cy="38404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572" y="3694908"/>
            <a:ext cx="199705" cy="19970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864608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Risks, changes, lessons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4864608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Governance objects linked at every level. The raw material for a portfolio watchdog.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343400" y="44074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77</a:t>
            </a:r>
            <a:r>
              <a:rPr lang="en-US" sz="11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 tables   ·   </a:t>
            </a:r>
            <a:r>
              <a:rPr lang="en-US" sz="20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9</a:t>
            </a:r>
            <a:r>
              <a:rPr lang="en-US" sz="11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 apps   ·   </a:t>
            </a:r>
            <a:r>
              <a:rPr lang="en-US" sz="20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1</a:t>
            </a:r>
            <a:r>
              <a:rPr lang="en-US" sz="11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 data platform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OFFERING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Five standardised proof-of-concepts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85292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PoC</a:t>
                      </a:r>
                      <a:endParaRPr lang="en-US" sz="10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What the agent does</a:t>
                      </a:r>
                      <a:endParaRPr lang="en-US" sz="10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Built on</a:t>
                      </a:r>
                      <a:endParaRPr lang="en-US" sz="10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Timebox</a:t>
                      </a:r>
                      <a:endParaRPr lang="en-US" sz="10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01 · Ask Your Portfolio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Answers live questions across portfolios, initiatives, risks and resources. Read-only.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Dataverse MCP + AI chat client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500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1 week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02 · Status Report Drafter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Drafts the full status report (KPI ratings and narrative) from schedule, risk and cost data. PM approves.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Copilot Studio agent + MCP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500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3 weeks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03 · Idea Intake &amp; Qualification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Interviews the requester in Teams, creates the idea, links business driver and objective, drafts scoring.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Copilot Studio agent + MCP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500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3 weeks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04 · Resource &amp; Capacity Assistant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Surfaces proposed-vs-committed gaps and suggests staffing by role, department and calendar.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Copilot Studio agent + MCP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500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3–6 weeks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05 · Portfolio Watchdog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Runs on a schedule: finds overdue tasks, stale reports and unowned risks, posts a Teams digest and drafts follow-ups.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D424B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Autonomous agent + workflows + MCP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500FF"/>
                          </a:solidFill>
                          <a:latin typeface="Aktiv Grotesk" pitchFamily="34" charset="0"/>
                          <a:ea typeface="Aktiv Grotesk" pitchFamily="34" charset="-122"/>
                          <a:cs typeface="Aktiv Grotesk" pitchFamily="34" charset="-120"/>
                        </a:rPr>
                        <a:t>6 weeks</a:t>
                      </a:r>
                      <a:endParaRPr lang="en-US" sz="950" dirty="0">
                        <a:latin typeface="Aktiv Grotesk" charset="0"/>
                        <a:ea typeface="Aktiv Grotesk" charset="0"/>
                        <a:cs typeface="Aktiv Grotesk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Each PoC stands alone, so start with one. All five reuse the same MCP foundation, which makes every following PoC cheaper.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PROOF OF CONCEPT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Ask Your Portfolio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38404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406640" y="402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1 WEEK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Ask questions about live xPM data and get answers with sources.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3D424B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MANUAL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sz="950">
                <a:solidFill>
                  <a:srgbClr val="3D424B"/>
                </a:solidFill>
                <a:latin typeface="Aktiv Grotesk"/>
              </a:rPr>
              <a:t>A portfolio question becomes a BI ticket. An analyst exports to Excel and reconciles by hand — the answer takes days, and is stale when it lands.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4892040" cy="1216152"/>
          </a:xfrm>
          <a:prstGeom prst="roundRect">
            <a:avLst>
              <a:gd name="adj" fmla="val 7519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800246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DEMO MOMENT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" y="3822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“Show me every initiative with a red cost KPI and no status report in 30 days.” Answered in 20 seconds, with sources.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481328"/>
            <a:ext cx="3108960" cy="3136392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779008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79008" y="1819656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Bef>
                <a:spcPts val="0"/>
              </a:spcBef>
              <a:spcAft>
                <a:spcPts val="200"/>
              </a:spcAft>
              <a:buSzPct val="100000"/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Decisions on live data, not month-old slides</a:t>
            </a:r>
            <a:endParaRPr lang="en-US" sz="900" dirty="0"/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Analyst time freed from ad-hoc pulls</a:t>
            </a:r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Answers in seconds — no BI backlog</a:t>
            </a:r>
          </a:p>
        </p:txBody>
      </p:sp>
      <p:sp>
        <p:nvSpPr>
          <p:cNvPr id="17" name="Text 14"/>
          <p:cNvSpPr/>
          <p:nvPr/>
        </p:nvSpPr>
        <p:spPr>
          <a:xfrm>
            <a:off x="5779008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79008" y="278892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Governed MCP connection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Question-pattern playbook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Recorded demo + fit assessment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79008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WE NEED FROM YOU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79008" y="375818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Sandbox with realistic data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MCP enabled by an admin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2 hrs/week from a PPM lead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08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4173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0000"/>
                </a:solidFill>
                <a:latin typeface="PP Neue Machina"/>
              </a:rPr>
              <a:t>2–3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481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850">
                <a:solidFill>
                  <a:srgbClr val="5500FF"/>
                </a:solidFill>
                <a:latin typeface="PP Neue Machina"/>
              </a:rPr>
              <a:t>WITH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5500FF"/>
                </a:solidFill>
                <a:latin typeface="PP Neue Machina"/>
              </a:rPr>
              <a:t>~20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737360"/>
            <a:ext cx="2423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000000"/>
                </a:solidFill>
                <a:latin typeface="Aktiv Grotesk"/>
              </a:rPr>
              <a:t>Ask in plain language. The agent finds the right tables, queries live xPM data and answers in ~20 seconds, with sources. Read-only.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PROOF OF CONCEPT 02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Status Report Drafter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38404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406640" y="402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3 WEEKS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PM reviews a finished draft instead of writing the report from scratch.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3D424B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MANUAL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sz="950">
                <a:solidFill>
                  <a:srgbClr val="3D424B"/>
                </a:solidFill>
                <a:latin typeface="Aktiv Grotesk"/>
              </a:rPr>
              <a:t>Each PM hand-writes every status report: chasing schedule, risks and cost actuals, then wording the narrative. 1–3 hrs per initiative, and quality varies by PM.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4892040" cy="1216152"/>
          </a:xfrm>
          <a:prstGeom prst="roundRect">
            <a:avLst>
              <a:gd name="adj" fmla="val 7519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800246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DEMO MOMENT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" y="3822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 complete status report draft with sources, generated while the PM watches. They change one rating and approve.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481328"/>
            <a:ext cx="3108960" cy="3136392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779008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79008" y="1819656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Bef>
                <a:spcPts val="0"/>
              </a:spcBef>
              <a:spcAft>
                <a:spcPts val="200"/>
              </a:spcAft>
              <a:buSzPct val="100000"/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Hours of PM time back each cycle</a:t>
            </a:r>
            <a:endParaRPr lang="en-US" sz="900" dirty="0"/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Consistent, comparable reports</a:t>
            </a:r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Reporting happens on time, every time</a:t>
            </a:r>
          </a:p>
        </p:txBody>
      </p:sp>
      <p:sp>
        <p:nvSpPr>
          <p:cNvPr id="17" name="Text 14"/>
          <p:cNvSpPr/>
          <p:nvPr/>
        </p:nvSpPr>
        <p:spPr>
          <a:xfrm>
            <a:off x="5779008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79008" y="278892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Working agent for one report type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Prompt + rating logic documented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Pilot with 3–5 PMs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79008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WE NEED FROM YOU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79008" y="375818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Status reporting in active use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Agreed rating rules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Pilot PMs with 1 hr/week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09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4173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0000"/>
                </a:solidFill>
                <a:latin typeface="PP Neue Machina"/>
              </a:rPr>
              <a:t>1–3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481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850">
                <a:solidFill>
                  <a:srgbClr val="5500FF"/>
                </a:solidFill>
                <a:latin typeface="PP Neue Machina"/>
              </a:rPr>
              <a:t>WITH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5500FF"/>
                </a:solidFill>
                <a:latin typeface="PP Neue Machina"/>
              </a:rPr>
              <a:t>~10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737360"/>
            <a:ext cx="2423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000000"/>
                </a:solidFill>
                <a:latin typeface="Aktiv Grotesk"/>
              </a:rPr>
              <a:t>The agent drafts the whole report — proposed ratings plus narrative — from live data. The PM reviews, edits one rating and approves in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PROOF OF CONCEPT 03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Idea Intake &amp; Qualification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38404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406640" y="402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3 WEEKS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Ideas enter the funnel qualified and linked to strategy, without a form.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3D424B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MANUAL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sz="950">
                <a:solidFill>
                  <a:srgbClr val="3D424B"/>
                </a:solidFill>
                <a:latin typeface="Aktiv Grotesk"/>
              </a:rPr>
              <a:t>Ideas arrive as emails and forms, unqualified and unlinked to strategy. Someone chases the detail, scores and routes them by hand — many never enter the funnel.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4892040" cy="1216152"/>
          </a:xfrm>
          <a:prstGeom prst="roundRect">
            <a:avLst>
              <a:gd name="adj" fmla="val 7519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800246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DEMO MOMENT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" y="3822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 colleague types three sentences in Teams. A qualified, strategy-linked idea appears in the funnel, with a score.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481328"/>
            <a:ext cx="3108960" cy="3136392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779008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79008" y="1819656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Bef>
                <a:spcPts val="0"/>
              </a:spcBef>
              <a:spcAft>
                <a:spcPts val="200"/>
              </a:spcAft>
              <a:buSzPct val="100000"/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Every idea captured and comparable</a:t>
            </a:r>
            <a:endParaRPr lang="en-US" sz="900" dirty="0"/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Intake bottleneck removed</a:t>
            </a:r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Portfolio choices start from strategy</a:t>
            </a:r>
          </a:p>
        </p:txBody>
      </p:sp>
      <p:sp>
        <p:nvSpPr>
          <p:cNvPr id="17" name="Text 14"/>
          <p:cNvSpPr/>
          <p:nvPr/>
        </p:nvSpPr>
        <p:spPr>
          <a:xfrm>
            <a:off x="5779008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79008" y="278892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Deployed intake agent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Qualification rule set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Dashboard of agent-created ideas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79008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WE NEED FROM YOU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79008" y="375818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Defined business drivers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An idea process owner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Pilot group in Teams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4173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0000"/>
                </a:solidFill>
                <a:latin typeface="PP Neue Machina"/>
              </a:rPr>
              <a:t>~45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481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850">
                <a:solidFill>
                  <a:srgbClr val="5500FF"/>
                </a:solidFill>
                <a:latin typeface="PP Neue Machina"/>
              </a:rPr>
              <a:t>WITH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5500FF"/>
                </a:solidFill>
                <a:latin typeface="PP Neue Machina"/>
              </a:rPr>
              <a:t>~5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737360"/>
            <a:ext cx="2423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000000"/>
                </a:solidFill>
                <a:latin typeface="Aktiv Grotesk"/>
              </a:rPr>
              <a:t>A Teams agent interviews the requester, then creates a scored idea linked to the right business driver and strategic objective. No 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PROOF OF CONCEPT 04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Resource &amp; Capacity Assistant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38404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406640" y="402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3–6 WEEKS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Shows where proposed allocations were never committed, before it becomes a problem.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3D424B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MANUAL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sz="950">
                <a:solidFill>
                  <a:srgbClr val="3D424B"/>
                </a:solidFill>
                <a:latin typeface="Aktiv Grotesk"/>
              </a:rPr>
              <a:t>Proposed-vs-committed gaps stay hidden in resource plans. Finding them means manual spreadsheet reconciliation — usually after an initiative is already short-staffed.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4892040" cy="1216152"/>
          </a:xfrm>
          <a:prstGeom prst="roundRect">
            <a:avLst>
              <a:gd name="adj" fmla="val 7519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800246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DEMO MOMENT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" y="3822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assistant lists the initiatives heading into staffing problems next quarter and proposes who could fill the gaps.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481328"/>
            <a:ext cx="3108960" cy="3136392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779008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79008" y="1819656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Bef>
                <a:spcPts val="0"/>
              </a:spcBef>
              <a:spcAft>
                <a:spcPts val="200"/>
              </a:spcAft>
              <a:buSzPct val="100000"/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Staffing gaps caught a quarter early</a:t>
            </a:r>
            <a:endParaRPr lang="en-US" sz="900" dirty="0"/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Fewer delivery slips</a:t>
            </a:r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Resourcing decisions on real data</a:t>
            </a:r>
          </a:p>
        </p:txBody>
      </p:sp>
      <p:sp>
        <p:nvSpPr>
          <p:cNvPr id="17" name="Text 14"/>
          <p:cNvSpPr/>
          <p:nvPr/>
        </p:nvSpPr>
        <p:spPr>
          <a:xfrm>
            <a:off x="5779008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79008" y="278892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Working capacity assistant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Gap-analysis question set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Resourcing data quality report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79008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WE NEED FROM YOU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79008" y="375818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Resource plans in real use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Roles + departments maintained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Resource manager sponsor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4173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0000"/>
                </a:solidFill>
                <a:latin typeface="PP Neue Machina"/>
              </a:rPr>
              <a:t>HALF A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481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850">
                <a:solidFill>
                  <a:srgbClr val="5500FF"/>
                </a:solidFill>
                <a:latin typeface="PP Neue Machina"/>
              </a:rPr>
              <a:t>WITH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5500FF"/>
                </a:solidFill>
                <a:latin typeface="PP Neue Machina"/>
              </a:rPr>
              <a:t>&lt; 1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737360"/>
            <a:ext cx="2423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000000"/>
                </a:solidFill>
                <a:latin typeface="Aktiv Grotesk"/>
              </a:rPr>
              <a:t>The agent reads every resource plan, flags allocations that were never committed and suggests candidate resources by role, department and period.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PROOF OF CONCEPT 05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Portfolio Watchdog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38404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406640" y="402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6 WEEKS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 scheduled agent that does the governance follow-up nobody has time for.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3D424B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MANUAL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sz="950">
                <a:solidFill>
                  <a:srgbClr val="3D424B"/>
                </a:solidFill>
                <a:latin typeface="Aktiv Grotesk"/>
              </a:rPr>
              <a:t>Governance follow-up — overdue tasks, stale reports, unowned risks — is a manual sweep nobody has time for. Compiling it takes a day, so it slips.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4892040" cy="1216152"/>
          </a:xfrm>
          <a:prstGeom prst="roundRect">
            <a:avLst>
              <a:gd name="adj" fmla="val 7519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800246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THE DEMO MOMENT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" y="3822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The PMO opens Teams on Monday morning to a ranked exception list that used to take a day to compile.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481328"/>
            <a:ext cx="3108960" cy="3136392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779008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79008" y="1819656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Bef>
                <a:spcPts val="0"/>
              </a:spcBef>
              <a:spcAft>
                <a:spcPts val="200"/>
              </a:spcAft>
              <a:buSzPct val="100000"/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Nothing slips through the cracks</a:t>
            </a:r>
            <a:endParaRPr lang="en-US" sz="900" dirty="0"/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PMO follow-up effort near zero</a:t>
            </a:r>
          </a:p>
          <a:p>
            <a:pPr marL="114300" indent="-114300">
              <a:spcBef>
                <a:spcPts val="0"/>
              </a:spcBef>
              <a:spcAft>
                <a:spcPts val="200"/>
              </a:spcAft>
              <a:buChar char="–"/>
            </a:pPr>
            <a:r>
              <a:rPr sz="900">
                <a:solidFill>
                  <a:srgbClr val="3D424B"/>
                </a:solidFill>
                <a:latin typeface="Aktiv Grotesk"/>
              </a:rPr>
              <a:t>Risks caught before they escalate</a:t>
            </a:r>
          </a:p>
        </p:txBody>
      </p:sp>
      <p:sp>
        <p:nvSpPr>
          <p:cNvPr id="17" name="Text 14"/>
          <p:cNvSpPr/>
          <p:nvPr/>
        </p:nvSpPr>
        <p:spPr>
          <a:xfrm>
            <a:off x="5779008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79008" y="278892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Scheduled watchdog in pilot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Exception rules documented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Evaluation set + usage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79008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WE NEED FROM YOU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79008" y="375818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Governance thresholds agreed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PMO channel + owner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–"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6 wks of engaged pilot feedback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4173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0000"/>
                </a:solidFill>
                <a:latin typeface="PP Neue Machina"/>
              </a:rPr>
              <a:t>1 DAY/WK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4813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850">
                <a:solidFill>
                  <a:srgbClr val="5500FF"/>
                </a:solidFill>
                <a:latin typeface="PP Neue Machina"/>
              </a:rPr>
              <a:t>WITH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4630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5500FF"/>
                </a:solidFill>
                <a:latin typeface="PP Neue Machina"/>
              </a:rPr>
              <a:t>5 MIN/WK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737360"/>
            <a:ext cx="2423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sz="950">
                <a:solidFill>
                  <a:srgbClr val="000000"/>
                </a:solidFill>
                <a:latin typeface="Aktiv Grotesk"/>
              </a:rPr>
              <a:t>A scheduled agent scans for exceptions and posts a ranked digest to the PMO Teams channel every Monday, with a link to each record.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TIMEBOXES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What is realistically achievable in each timebox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1 WEEK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Prove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E8C7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MCP connected to a sandbox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Read-only Q&amp;A on your real data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Executive demo + fit assessment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Go / no-go evidence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922D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DON'T 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 writes to data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 custom UI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 security hardening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Nothing in production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3520440" y="14630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3520440" y="14813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3 WEEKS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E8C7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One working agent, one use case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Scoped writes with human approval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Deployed to a pilot group in Teams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First evaluation test set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20440" y="3566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922D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DON'T GET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 autonomous runs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One use case, not three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 ALM pipeline yet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280160"/>
            <a:ext cx="2560320" cy="3337560"/>
          </a:xfrm>
          <a:prstGeom prst="roundRect">
            <a:avLst>
              <a:gd name="adj" fmla="val 4286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6355080" y="14630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Text 20"/>
          <p:cNvSpPr/>
          <p:nvPr/>
        </p:nvSpPr>
        <p:spPr>
          <a:xfrm>
            <a:off x="6355080" y="14813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6 WEEKS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1463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Pilot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2011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1E8C7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GET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Autonomous scheduled flows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Evaluations + usage monitoring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Solution-packaged for transport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Security roles validated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Adoption material + baseline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5080" y="3566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922D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YOU DON'T 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3794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Not an org-wide rollout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No production SLAs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Licensing model still to be sized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BEYOND THE POC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The extension roadmap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96112" y="1691640"/>
            <a:ext cx="6446520" cy="0"/>
          </a:xfrm>
          <a:prstGeom prst="line">
            <a:avLst/>
          </a:prstGeom>
          <a:noFill/>
          <a:ln w="19050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420624" cy="420624"/>
          </a:xfrm>
          <a:prstGeom prst="ellipse">
            <a:avLst/>
          </a:prstGeom>
          <a:solidFill>
            <a:srgbClr val="00B6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Prove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B6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WEEKS 1–6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Run one or two PoCs from the catalogue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Capture evidence: time saved, answer quality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Decision gate: invest or stop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481328"/>
            <a:ext cx="420624" cy="420624"/>
          </a:xfrm>
          <a:prstGeom prst="ellipse">
            <a:avLst/>
          </a:prstGeom>
          <a:solidFill>
            <a:srgbClr val="5500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283464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Harden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MONTHS 2–4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06040" y="26974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Entra agent identity + DLP policies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Evaluation gates before every release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Add the second use case on the same 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481328"/>
            <a:ext cx="420624" cy="420624"/>
          </a:xfrm>
          <a:prstGeom prst="ellipse">
            <a:avLst/>
          </a:prstGeom>
          <a:solidFill>
            <a:srgbClr val="043F9C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498348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Productionise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43F9C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MONTHS 4–8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ALM pipeline to production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Monitoring + credit budgeting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Multi-agent orchestration of the PoC agents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1481328"/>
            <a:ext cx="420624" cy="420624"/>
          </a:xfrm>
          <a:prstGeom prst="ellipse">
            <a:avLst/>
          </a:prstGeom>
          <a:solidFill>
            <a:srgbClr val="1E8C7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Text 19"/>
          <p:cNvSpPr/>
          <p:nvPr/>
        </p:nvSpPr>
        <p:spPr>
          <a:xfrm>
            <a:off x="713232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Standardise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E8C7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MONTHS 8+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03720" y="26974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Packaged “xPM AI add-on”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Reusable skills library</a:t>
            </a:r>
            <a:endParaRPr lang="en-US" sz="950" dirty="0"/>
          </a:p>
          <a:p>
            <a:pPr marL="114300" indent="-1143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Priced tiers per timebox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5F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6" name="Text 24"/>
          <p:cNvSpPr/>
          <p:nvPr/>
        </p:nvSpPr>
        <p:spPr>
          <a:xfrm>
            <a:off x="685800" y="43708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Every phase ends with a decision gate. The next phase only starts if the evidence supports it.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</a:t>
            </a:r>
            <a:r>
              <a:rPr lang="en-US" sz="11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&amp;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424B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5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108960"/>
            <a:ext cx="5943600" cy="5943600"/>
          </a:xfrm>
          <a:prstGeom prst="ellipse">
            <a:avLst/>
          </a:prstGeom>
          <a:solidFill>
            <a:srgbClr val="4600D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Context&amp;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FFFF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ktiv Grotesk Light" pitchFamily="34" charset="0"/>
                <a:ea typeface="Aktiv Grotesk Light" pitchFamily="34" charset="-122"/>
                <a:cs typeface="Aktiv Grotesk Light" pitchFamily="34" charset="-120"/>
              </a:rPr>
              <a:t>Start with one week.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Pick one PoC and a sandbox environment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971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Run the 1-week “Prove” timebox on real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00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520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Decide on the 3 or 6 week build based on the evidence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133088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500FF"/>
                </a:solidFill>
                <a:latin typeface="PP Neue Machina" pitchFamily="34" charset="0"/>
                <a:ea typeface="PP Neue Machina" pitchFamily="34" charset="-122"/>
                <a:cs typeface="PP Neue Machina" pitchFamily="34" charset="-120"/>
              </a:rPr>
              <a:t>LIVE DEMO READY   </a:t>
            </a:r>
            <a:r>
              <a:rPr lang="en-US" sz="1050" dirty="0">
                <a:solidFill>
                  <a:srgbClr val="000000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All five PoCs, on real xPM data. Ask Patrick.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ktiv Grotesk" pitchFamily="34" charset="0"/>
                <a:ea typeface="Aktiv Grotesk" pitchFamily="34" charset="-122"/>
                <a:cs typeface="Aktiv Grotesk" pitchFamily="34" charset="-120"/>
              </a:rPr>
              <a:t>Better connected in The Digital Neighbourhood.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</TotalTime>
  <Words>2151</Words>
  <Application>Microsoft Macintosh PowerPoint</Application>
  <PresentationFormat>On-screen Show (16:9)</PresentationFormat>
  <Paragraphs>334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Aktiv Grotesk</vt:lpstr>
      <vt:lpstr>Aktiv Grotesk Light</vt:lpstr>
      <vt:lpstr>Arial</vt:lpstr>
      <vt:lpstr>PP Neue Machina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Projectum xPM. Standardised Offering</dc:title>
  <dc:subject>PptxGenJS Presentation</dc:subject>
  <dc:creator>Context&amp;</dc:creator>
  <cp:lastModifiedBy>Patrick Damborg</cp:lastModifiedBy>
  <cp:revision>3</cp:revision>
  <dcterms:created xsi:type="dcterms:W3CDTF">2026-06-09T20:27:15Z</dcterms:created>
  <dcterms:modified xsi:type="dcterms:W3CDTF">2026-07-01T12:23:44Z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8cfdca-cad7-418b-9250-8be0d9709f04_Enabled">
    <vt:lpwstr>true</vt:lpwstr>
  </property>
  <property fmtid="{D5CDD505-2E9C-101B-9397-08002B2CF9AE}" pid="3" name="MSIP_Label_418cfdca-cad7-418b-9250-8be0d9709f04_SetDate">
    <vt:lpwstr>2026-06-09T20:58:08Z</vt:lpwstr>
  </property>
  <property fmtid="{D5CDD505-2E9C-101B-9397-08002B2CF9AE}" pid="4" name="MSIP_Label_418cfdca-cad7-418b-9250-8be0d9709f04_Method">
    <vt:lpwstr>Standard</vt:lpwstr>
  </property>
  <property fmtid="{D5CDD505-2E9C-101B-9397-08002B2CF9AE}" pid="5" name="MSIP_Label_418cfdca-cad7-418b-9250-8be0d9709f04_Name">
    <vt:lpwstr>defa4170-0d19-0005-0004-bc88714345d2</vt:lpwstr>
  </property>
  <property fmtid="{D5CDD505-2E9C-101B-9397-08002B2CF9AE}" pid="6" name="MSIP_Label_418cfdca-cad7-418b-9250-8be0d9709f04_SiteId">
    <vt:lpwstr>ee357b2a-1bf9-42a6-baab-9772d85b28c1</vt:lpwstr>
  </property>
  <property fmtid="{D5CDD505-2E9C-101B-9397-08002B2CF9AE}" pid="7" name="MSIP_Label_418cfdca-cad7-418b-9250-8be0d9709f04_ActionId">
    <vt:lpwstr>e9ce17f6-5d66-4a77-a1ab-6d7c3789561d</vt:lpwstr>
  </property>
  <property fmtid="{D5CDD505-2E9C-101B-9397-08002B2CF9AE}" pid="8" name="MSIP_Label_418cfdca-cad7-418b-9250-8be0d9709f04_ContentBits">
    <vt:lpwstr>0</vt:lpwstr>
  </property>
  <property fmtid="{D5CDD505-2E9C-101B-9397-08002B2CF9AE}" pid="9" name="MSIP_Label_418cfdca-cad7-418b-9250-8be0d9709f04_Tag">
    <vt:lpwstr>50, 3, 0, 1</vt:lpwstr>
  </property>
</Properties>
</file>