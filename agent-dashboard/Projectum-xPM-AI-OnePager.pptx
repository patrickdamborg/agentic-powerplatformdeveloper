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54" d="100"/>
          <a:sy n="154" d="100"/>
        </p:scale>
        <p:origin x="6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5500FF"/>
                </a:solidFill>
                <a:latin typeface="PP Neue Machina"/>
              </a:rPr>
              <a:t>AI IN PROJECTUM XPM · ONE-PAGER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400">
                <a:solidFill>
                  <a:srgbClr val="000000"/>
                </a:solidFill>
                <a:latin typeface="Aktiv Grotesk Light"/>
              </a:rPr>
              <a:t>Five agents, one MCP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>
                <a:solidFill>
                  <a:srgbClr val="5500FF"/>
                </a:solidFill>
                <a:latin typeface="Aktiv Grotesk"/>
              </a:rPr>
              <a:t>Each PoC runs on live xPM data via the Dataverse MCP server and Copilot Studio. Start with one — every next PoC is cheaper.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229600" cy="2276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PROOF OF CONCEPT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WHAT IT DOES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MANUAL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WITH AGENT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3D424B"/>
                          </a:solidFill>
                          <a:latin typeface="PP Neue Machina"/>
                        </a:rPr>
                        <a:t>TIMEBOX</a:t>
                      </a:r>
                    </a:p>
                  </a:txBody>
                  <a:tcPr marL="54864" marR="54864" marT="18288" marB="18288" anchor="ctr">
                    <a:solidFill>
                      <a:srgbClr val="F2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5500FF"/>
                          </a:solidFill>
                          <a:latin typeface="PP Neue Machina"/>
                        </a:rPr>
                        <a:t>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Aktiv Grotesk"/>
                        </a:rPr>
                        <a:t>Ask Your Portfolio</a:t>
                      </a:r>
                    </a:p>
                  </a:txBody>
                  <a:tcPr marL="38404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D424B"/>
                          </a:solidFill>
                          <a:latin typeface="Aktiv Grotesk"/>
                        </a:rPr>
                        <a:t>Live Q&amp;A over portfolios, risks and resources, with sources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P Neue Machina"/>
                        </a:rPr>
                        <a:t>2–3 days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00FF"/>
                          </a:solidFill>
                          <a:latin typeface="Aktiv Grotesk"/>
                        </a:rPr>
                        <a:t>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00FF"/>
                          </a:solidFill>
                          <a:latin typeface="PP Neue Machina"/>
                        </a:rPr>
                        <a:t>~20 sec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D424B"/>
                          </a:solidFill>
                          <a:latin typeface="PP Neue Machina"/>
                        </a:rPr>
                        <a:t>1 week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5500FF"/>
                          </a:solidFill>
                          <a:latin typeface="PP Neue Machina"/>
                        </a:rPr>
                        <a:t>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Aktiv Grotesk"/>
                        </a:rPr>
                        <a:t>Status Report Drafter</a:t>
                      </a:r>
                    </a:p>
                  </a:txBody>
                  <a:tcPr marL="38404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D424B"/>
                          </a:solidFill>
                          <a:latin typeface="Aktiv Grotesk"/>
                        </a:rPr>
                        <a:t>Drafts the full status report; the PM reviews and approves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P Neue Machina"/>
                        </a:rPr>
                        <a:t>1–3 hrs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00FF"/>
                          </a:solidFill>
                          <a:latin typeface="Aktiv Grotesk"/>
                        </a:rPr>
                        <a:t>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00FF"/>
                          </a:solidFill>
                          <a:latin typeface="PP Neue Machina"/>
                        </a:rPr>
                        <a:t>~10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D424B"/>
                          </a:solidFill>
                          <a:latin typeface="PP Neue Machina"/>
                        </a:rPr>
                        <a:t>3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5500FF"/>
                          </a:solidFill>
                          <a:latin typeface="PP Neue Machina"/>
                        </a:rPr>
                        <a:t>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Aktiv Grotesk"/>
                        </a:rPr>
                        <a:t>Idea Intake &amp; Qualification</a:t>
                      </a:r>
                    </a:p>
                  </a:txBody>
                  <a:tcPr marL="38404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D424B"/>
                          </a:solidFill>
                          <a:latin typeface="Aktiv Grotesk"/>
                        </a:rPr>
                        <a:t>Teams agent interviews the requester; strategy-linked idea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P Neue Machina"/>
                        </a:rPr>
                        <a:t>~45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00FF"/>
                          </a:solidFill>
                          <a:latin typeface="Aktiv Grotesk"/>
                        </a:rPr>
                        <a:t>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00FF"/>
                          </a:solidFill>
                          <a:latin typeface="PP Neue Machina"/>
                        </a:rPr>
                        <a:t>~5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D424B"/>
                          </a:solidFill>
                          <a:latin typeface="PP Neue Machina"/>
                        </a:rPr>
                        <a:t>3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5500FF"/>
                          </a:solidFill>
                          <a:latin typeface="PP Neue Machina"/>
                        </a:rPr>
                        <a:t>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Aktiv Grotesk"/>
                        </a:rPr>
                        <a:t>Resource &amp; Capacity Assistant</a:t>
                      </a:r>
                    </a:p>
                  </a:txBody>
                  <a:tcPr marL="38404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D424B"/>
                          </a:solidFill>
                          <a:latin typeface="Aktiv Grotesk"/>
                        </a:rPr>
                        <a:t>Surfaces proposed-vs-committed staffing gaps early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P Neue Machina"/>
                        </a:rPr>
                        <a:t>half a day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00FF"/>
                          </a:solidFill>
                          <a:latin typeface="Aktiv Grotesk"/>
                        </a:rPr>
                        <a:t>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00FF"/>
                          </a:solidFill>
                          <a:latin typeface="PP Neue Machina"/>
                        </a:rPr>
                        <a:t>&lt; 1 min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D424B"/>
                          </a:solidFill>
                          <a:latin typeface="PP Neue Machina"/>
                        </a:rPr>
                        <a:t>3–6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5500FF"/>
                          </a:solidFill>
                          <a:latin typeface="PP Neue Machina"/>
                        </a:rPr>
                        <a:t>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00000"/>
                          </a:solidFill>
                          <a:latin typeface="Aktiv Grotesk"/>
                        </a:rPr>
                        <a:t>Portfolio Watchdog</a:t>
                      </a:r>
                    </a:p>
                  </a:txBody>
                  <a:tcPr marL="384048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D424B"/>
                          </a:solidFill>
                          <a:latin typeface="Aktiv Grotesk"/>
                        </a:rPr>
                        <a:t>Scheduled scan for overdue, stale and unowned items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PP Neue Machina"/>
                        </a:rPr>
                        <a:t>1 day/wk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5500FF"/>
                          </a:solidFill>
                          <a:latin typeface="Aktiv Grotesk"/>
                        </a:rPr>
                        <a:t>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00FF"/>
                          </a:solidFill>
                          <a:latin typeface="PP Neue Machina"/>
                        </a:rPr>
                        <a:t>5 min/wk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3D424B"/>
                          </a:solidFill>
                          <a:latin typeface="PP Neue Machina"/>
                        </a:rPr>
                        <a:t>6 weeks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5500FF"/>
                </a:solidFill>
                <a:latin typeface="PP Neue Machina"/>
              </a:rPr>
              <a:t>WHY IT LANDS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ktiv Grotesk"/>
              </a:rPr>
              <a:t>Data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25696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3D424B"/>
                </a:solidFill>
                <a:latin typeface="Aktiv Grotesk"/>
              </a:rPr>
              <a:t>77 Dataverse tables — no warehouse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206240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ktiv Grotesk"/>
              </a:rPr>
              <a:t>Governed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4425696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3D424B"/>
                </a:solidFill>
                <a:latin typeface="Aktiv Grotesk"/>
              </a:rPr>
              <a:t>Agents act within each user's permissions.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206240"/>
            <a:ext cx="2651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00000"/>
                </a:solidFill>
                <a:latin typeface="Aktiv Grotesk"/>
              </a:rPr>
              <a:t>Fast to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425696"/>
            <a:ext cx="2697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3D424B"/>
                </a:solidFill>
                <a:latin typeface="Aktiv Grotesk"/>
              </a:rPr>
              <a:t>1–6 week PoCs, a decision gate each phase.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000000"/>
                </a:solidFill>
                <a:latin typeface="Aktiv Grotesk"/>
              </a:rPr>
              <a:t>Context</a:t>
            </a:r>
            <a:r>
              <a:rPr sz="1100" b="1">
                <a:solidFill>
                  <a:srgbClr val="5500FF"/>
                </a:solidFill>
                <a:latin typeface="Aktiv Grotesk"/>
              </a:rPr>
              <a:t>&amp;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86460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50">
                <a:solidFill>
                  <a:srgbClr val="3D424B"/>
                </a:solidFill>
                <a:latin typeface="Aktiv Grotesk"/>
              </a:rPr>
              <a:t>Live demo ready on real xPM data — ask Patrick.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10896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>
                <a:solidFill>
                  <a:srgbClr val="3D424B"/>
                </a:solidFill>
                <a:latin typeface="Aktiv Grotesk"/>
              </a:rPr>
              <a:t>Better connected in The Digital Neighbourhood.</a:t>
            </a:r>
          </a:p>
        </p:txBody>
      </p:sp>
      <p:pic>
        <p:nvPicPr>
          <p:cNvPr id="16" name="Picture 15" descr="ic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15084"/>
            <a:ext cx="237744" cy="237744"/>
          </a:xfrm>
          <a:prstGeom prst="rect">
            <a:avLst/>
          </a:prstGeom>
        </p:spPr>
      </p:pic>
      <p:pic>
        <p:nvPicPr>
          <p:cNvPr id="17" name="Picture 16" descr="ic_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08276"/>
            <a:ext cx="237744" cy="237744"/>
          </a:xfrm>
          <a:prstGeom prst="rect">
            <a:avLst/>
          </a:prstGeom>
        </p:spPr>
      </p:pic>
      <p:pic>
        <p:nvPicPr>
          <p:cNvPr id="18" name="Picture 17" descr="ic_id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601468"/>
            <a:ext cx="237744" cy="237744"/>
          </a:xfrm>
          <a:prstGeom prst="rect">
            <a:avLst/>
          </a:prstGeom>
        </p:spPr>
      </p:pic>
      <p:pic>
        <p:nvPicPr>
          <p:cNvPr id="19" name="Picture 18" descr="ic_resour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2994660"/>
            <a:ext cx="237744" cy="237744"/>
          </a:xfrm>
          <a:prstGeom prst="rect">
            <a:avLst/>
          </a:prstGeom>
        </p:spPr>
      </p:pic>
      <p:pic>
        <p:nvPicPr>
          <p:cNvPr id="20" name="Picture 19" descr="ic_w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387852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</Words>
  <Application>Microsoft Macintosh PowerPoint</Application>
  <PresentationFormat>On-screen Show (16:9)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Aktiv Grotesk</vt:lpstr>
      <vt:lpstr>Aktiv Grotesk Light</vt:lpstr>
      <vt:lpstr>Arial</vt:lpstr>
      <vt:lpstr>Calibri</vt:lpstr>
      <vt:lpstr>PP Neue Machina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Patrick Damborg</cp:lastModifiedBy>
  <cp:revision>1</cp:revision>
  <dcterms:created xsi:type="dcterms:W3CDTF">2013-01-27T09:14:16Z</dcterms:created>
  <dcterms:modified xsi:type="dcterms:W3CDTF">2026-07-01T12:21:27Z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8cfdca-cad7-418b-9250-8be0d9709f04_Enabled">
    <vt:lpwstr>true</vt:lpwstr>
  </property>
  <property fmtid="{D5CDD505-2E9C-101B-9397-08002B2CF9AE}" pid="3" name="MSIP_Label_418cfdca-cad7-418b-9250-8be0d9709f04_SetDate">
    <vt:lpwstr>2026-07-01T12:21:27Z</vt:lpwstr>
  </property>
  <property fmtid="{D5CDD505-2E9C-101B-9397-08002B2CF9AE}" pid="4" name="MSIP_Label_418cfdca-cad7-418b-9250-8be0d9709f04_Method">
    <vt:lpwstr>Standard</vt:lpwstr>
  </property>
  <property fmtid="{D5CDD505-2E9C-101B-9397-08002B2CF9AE}" pid="5" name="MSIP_Label_418cfdca-cad7-418b-9250-8be0d9709f04_Name">
    <vt:lpwstr>defa4170-0d19-0005-0004-bc88714345d2</vt:lpwstr>
  </property>
  <property fmtid="{D5CDD505-2E9C-101B-9397-08002B2CF9AE}" pid="6" name="MSIP_Label_418cfdca-cad7-418b-9250-8be0d9709f04_SiteId">
    <vt:lpwstr>ee357b2a-1bf9-42a6-baab-9772d85b28c1</vt:lpwstr>
  </property>
  <property fmtid="{D5CDD505-2E9C-101B-9397-08002B2CF9AE}" pid="7" name="MSIP_Label_418cfdca-cad7-418b-9250-8be0d9709f04_ActionId">
    <vt:lpwstr>6c3695e0-390e-4427-ae41-f4e88241af6f</vt:lpwstr>
  </property>
  <property fmtid="{D5CDD505-2E9C-101B-9397-08002B2CF9AE}" pid="8" name="MSIP_Label_418cfdca-cad7-418b-9250-8be0d9709f04_ContentBits">
    <vt:lpwstr>0</vt:lpwstr>
  </property>
  <property fmtid="{D5CDD505-2E9C-101B-9397-08002B2CF9AE}" pid="9" name="MSIP_Label_418cfdca-cad7-418b-9250-8be0d9709f04_Tag">
    <vt:lpwstr>50, 3, 0, 1</vt:lpwstr>
  </property>
</Properties>
</file>